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b="1" sz="5400">
                <a:solidFill>
                  <a:srgbClr val="3498DB"/>
                </a:solidFill>
                <a:latin typeface="Inter"/>
              </a:defRPr>
            </a:pPr>
            <a:r>
              <a:t>Last Week Nifty50 Market Evaluation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800">
                <a:solidFill>
                  <a:srgbClr val="2ECC71"/>
                </a:solidFill>
                <a:latin typeface="Inter"/>
              </a:defRPr>
            </a:pPr>
            <a:r>
              <a:t>Generated by Gemini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10362895" cy="548640"/>
          </a:xfrm>
        </p:spPr>
        <p:txBody>
          <a:bodyPr anchor="t" tIns="0" bIns="0" lIns="0" rIns="0"/>
          <a:lstStyle/>
          <a:p>
            <a:pPr algn="l">
              <a:defRPr b="1" sz="4000">
                <a:solidFill>
                  <a:srgbClr val="3498DB"/>
                </a:solidFill>
                <a:latin typeface="Inter"/>
              </a:defRPr>
            </a:pPr>
            <a:r>
              <a:t>Nifty50 Weekly Snapshot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097280"/>
            <a:ext cx="10362895" cy="4937760"/>
          </a:xfrm>
        </p:spPr>
        <p:txBody>
          <a:bodyPr wrap="square"/>
          <a:lstStyle/>
          <a:p/>
          <a:p>
            <a:pPr algn="l">
              <a:spcBef>
                <a:spcPts val="400"/>
              </a:spcBef>
              <a:spcAft>
                <a:spcPts val="400"/>
              </a:spcAft>
              <a:defRPr sz="2400" b="0">
                <a:solidFill>
                  <a:srgbClr val="E0E7EB"/>
                </a:solidFill>
                <a:latin typeface="Inter"/>
              </a:defRPr>
            </a:pPr>
            <a:r>
              <a:t>Weekly Performance Overview</a:t>
            </a:r>
          </a:p>
          <a:p>
            <a:pPr lvl="1" algn="l">
              <a:spcBef>
                <a:spcPts val="400"/>
              </a:spcBef>
              <a:spcAft>
                <a:spcPts val="200"/>
              </a:spcAft>
              <a:defRPr sz="2000">
                <a:solidFill>
                  <a:srgbClr val="E0E7EB"/>
                </a:solidFill>
                <a:latin typeface="Inter"/>
              </a:defRPr>
            </a:pPr>
            <a:r>
              <a:t>Nifty50 closed the week at [Insert Closing Level, e.g., 22,500], reflecting a [Insert % Change, e.g., 0.85%] gain from the previous week's close.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400" b="0">
                <a:solidFill>
                  <a:srgbClr val="E0E7EB"/>
                </a:solidFill>
                <a:latin typeface="Inter"/>
              </a:defRPr>
            </a:pPr>
            <a:r>
              <a:t>Opening and Closing Levels</a:t>
            </a:r>
          </a:p>
          <a:p>
            <a:pPr lvl="1" algn="l">
              <a:spcBef>
                <a:spcPts val="400"/>
              </a:spcBef>
              <a:spcAft>
                <a:spcPts val="200"/>
              </a:spcAft>
              <a:defRPr sz="2000">
                <a:solidFill>
                  <a:srgbClr val="E0E7EB"/>
                </a:solidFill>
                <a:latin typeface="Inter"/>
              </a:defRPr>
            </a:pPr>
            <a:r>
              <a:t>The index opened at [Insert Opening Level, e.g., 22,310] and touched an intra-week high of [Insert High Level, e.g., 22,620] and a low of [Insert Low Level, e.g., 22,280].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400" b="0">
                <a:solidFill>
                  <a:srgbClr val="E0E7EB"/>
                </a:solidFill>
                <a:latin typeface="Inter"/>
              </a:defRPr>
            </a:pPr>
            <a:r>
              <a:t>Key Market Drivers</a:t>
            </a:r>
          </a:p>
          <a:p>
            <a:pPr lvl="1" algn="l">
              <a:spcBef>
                <a:spcPts val="400"/>
              </a:spcBef>
              <a:spcAft>
                <a:spcPts val="200"/>
              </a:spcAft>
              <a:defRPr sz="2000">
                <a:solidFill>
                  <a:srgbClr val="E0E7EB"/>
                </a:solidFill>
                <a:latin typeface="Inter"/>
              </a:defRPr>
            </a:pPr>
            <a:r>
              <a:t>Positive global cues and robust domestic institutional buying provided underlying support.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AABFCB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400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AABFCB"/>
                </a:solidFill>
              </a:defRPr>
            </a:pPr>
            <a:r>
              <a:t>Last Week Nifty50 Market Evaluation | February 28,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10362895" cy="548640"/>
          </a:xfrm>
        </p:spPr>
        <p:txBody>
          <a:bodyPr anchor="t" tIns="0" bIns="0" lIns="0" rIns="0"/>
          <a:lstStyle/>
          <a:p>
            <a:pPr algn="l">
              <a:defRPr b="1" sz="4000">
                <a:solidFill>
                  <a:srgbClr val="3498DB"/>
                </a:solidFill>
                <a:latin typeface="Inter"/>
              </a:defRPr>
            </a:pPr>
            <a:r>
              <a:t>Nifty50 Weekly Snapshot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097280"/>
            <a:ext cx="10362895" cy="4937760"/>
          </a:xfrm>
        </p:spPr>
        <p:txBody>
          <a:bodyPr wrap="square"/>
          <a:lstStyle/>
          <a:p/>
          <a:p>
            <a:pPr lvl="1" algn="l">
              <a:spcBef>
                <a:spcPts val="400"/>
              </a:spcBef>
              <a:spcAft>
                <a:spcPts val="200"/>
              </a:spcAft>
              <a:defRPr sz="2000">
                <a:solidFill>
                  <a:srgbClr val="E0E7EB"/>
                </a:solidFill>
                <a:latin typeface="Inter"/>
              </a:defRPr>
            </a:pPr>
            <a:r>
              <a:t>Specific sector tailwinds, particularly in [Mention Sector, e.g., IT and Financials], contributed significantly to the upward movement.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400" b="0">
                <a:solidFill>
                  <a:srgbClr val="E0E7EB"/>
                </a:solidFill>
                <a:latin typeface="Inter"/>
              </a:defRPr>
            </a:pPr>
            <a:r>
              <a:t>Volume Analysis</a:t>
            </a:r>
          </a:p>
          <a:p>
            <a:pPr lvl="1" algn="l">
              <a:spcBef>
                <a:spcPts val="400"/>
              </a:spcBef>
              <a:spcAft>
                <a:spcPts val="200"/>
              </a:spcAft>
              <a:defRPr sz="2000">
                <a:solidFill>
                  <a:srgbClr val="E0E7EB"/>
                </a:solidFill>
                <a:latin typeface="Inter"/>
              </a:defRPr>
            </a:pPr>
            <a:r>
              <a:t>Trading volumes remained [e.g., moderate to strong], indicating sustained market participation.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AABFCB"/>
                </a:solidFill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400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AABFCB"/>
                </a:solidFill>
              </a:defRPr>
            </a:pPr>
            <a:r>
              <a:t>Last Week Nifty50 Market Evaluation | February 28,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10362895" cy="548640"/>
          </a:xfrm>
        </p:spPr>
        <p:txBody>
          <a:bodyPr anchor="t" tIns="0" bIns="0" lIns="0" rIns="0"/>
          <a:lstStyle/>
          <a:p>
            <a:pPr algn="l">
              <a:defRPr b="1" sz="4000">
                <a:solidFill>
                  <a:srgbClr val="3498DB"/>
                </a:solidFill>
                <a:latin typeface="Inter"/>
              </a:defRPr>
            </a:pPr>
            <a:r>
              <a:t>Performance &amp; Volatility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097280"/>
            <a:ext cx="10362895" cy="4937760"/>
          </a:xfrm>
        </p:spPr>
        <p:txBody>
          <a:bodyPr wrap="square"/>
          <a:lstStyle/>
          <a:p/>
          <a:p>
            <a:pPr algn="l">
              <a:spcBef>
                <a:spcPts val="400"/>
              </a:spcBef>
              <a:spcAft>
                <a:spcPts val="400"/>
              </a:spcAft>
              <a:defRPr sz="2400" b="0">
                <a:solidFill>
                  <a:srgbClr val="E0E7EB"/>
                </a:solidFill>
                <a:latin typeface="Inter"/>
              </a:defRPr>
            </a:pPr>
            <a:r>
              <a:t>Comparative Performance</a:t>
            </a:r>
          </a:p>
          <a:p>
            <a:pPr lvl="1" algn="l">
              <a:spcBef>
                <a:spcPts val="400"/>
              </a:spcBef>
              <a:spcAft>
                <a:spcPts val="200"/>
              </a:spcAft>
              <a:defRPr sz="2000">
                <a:solidFill>
                  <a:srgbClr val="E0E7EB"/>
                </a:solidFill>
                <a:latin typeface="Inter"/>
              </a:defRPr>
            </a:pPr>
            <a:r>
              <a:t>Nifty50's [e.g., 0.85%] gain outperformed the broader market indices like Nifty Midcap and Smallcap, which saw [e.g., marginal losses/gains].</a:t>
            </a:r>
          </a:p>
          <a:p>
            <a:pPr lvl="1" algn="l">
              <a:spcBef>
                <a:spcPts val="400"/>
              </a:spcBef>
              <a:spcAft>
                <a:spcPts val="200"/>
              </a:spcAft>
              <a:defRPr sz="2000">
                <a:solidFill>
                  <a:srgbClr val="E0E7EB"/>
                </a:solidFill>
                <a:latin typeface="Inter"/>
              </a:defRPr>
            </a:pPr>
            <a:r>
              <a:t>The index showed resilience compared to some global peers, which faced headwinds from [e.g., inflation data/geopolitical concerns].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400" b="0">
                <a:solidFill>
                  <a:srgbClr val="E0E7EB"/>
                </a:solidFill>
                <a:latin typeface="Inter"/>
              </a:defRPr>
            </a:pPr>
            <a:r>
              <a:t>Volatility Assessment (India VIX)</a:t>
            </a:r>
          </a:p>
          <a:p>
            <a:pPr lvl="1" algn="l">
              <a:spcBef>
                <a:spcPts val="400"/>
              </a:spcBef>
              <a:spcAft>
                <a:spcPts val="200"/>
              </a:spcAft>
              <a:defRPr sz="2000">
                <a:solidFill>
                  <a:srgbClr val="E0E7EB"/>
                </a:solidFill>
                <a:latin typeface="Inter"/>
              </a:defRPr>
            </a:pPr>
            <a:r>
              <a:t>The India VIX, a measure of market volatility, [e.g., declined by X% from Y to Z], suggesting easing market apprehension.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AABFCB"/>
                </a:solidFill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400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AABFCB"/>
                </a:solidFill>
              </a:defRPr>
            </a:pPr>
            <a:r>
              <a:t>Last Week Nifty50 Market Evaluation | February 28,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10362895" cy="548640"/>
          </a:xfrm>
        </p:spPr>
        <p:txBody>
          <a:bodyPr anchor="t" tIns="0" bIns="0" lIns="0" rIns="0"/>
          <a:lstStyle/>
          <a:p>
            <a:pPr algn="l">
              <a:defRPr b="1" sz="4000">
                <a:solidFill>
                  <a:srgbClr val="3498DB"/>
                </a:solidFill>
                <a:latin typeface="Inter"/>
              </a:defRPr>
            </a:pPr>
            <a:r>
              <a:t>Performance &amp; Volatility Analysis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097280"/>
            <a:ext cx="10362895" cy="4937760"/>
          </a:xfrm>
        </p:spPr>
        <p:txBody>
          <a:bodyPr wrap="square"/>
          <a:lstStyle/>
          <a:p/>
          <a:p>
            <a:pPr lvl="1" algn="l">
              <a:spcBef>
                <a:spcPts val="400"/>
              </a:spcBef>
              <a:spcAft>
                <a:spcPts val="200"/>
              </a:spcAft>
              <a:defRPr sz="2000">
                <a:solidFill>
                  <a:srgbClr val="E0E7EB"/>
                </a:solidFill>
                <a:latin typeface="Inter"/>
              </a:defRPr>
            </a:pPr>
            <a:r>
              <a:t>Despite the overall upward trend, intra-day volatility spikes were observed around key economic data releases.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400" b="0">
                <a:solidFill>
                  <a:srgbClr val="E0E7EB"/>
                </a:solidFill>
                <a:latin typeface="Inter"/>
              </a:defRPr>
            </a:pPr>
            <a:r>
              <a:t>Technical Levels Reviewed</a:t>
            </a:r>
          </a:p>
          <a:p>
            <a:pPr lvl="1" algn="l">
              <a:spcBef>
                <a:spcPts val="400"/>
              </a:spcBef>
              <a:spcAft>
                <a:spcPts val="200"/>
              </a:spcAft>
              <a:defRPr sz="2000">
                <a:solidFill>
                  <a:srgbClr val="E0E7EB"/>
                </a:solidFill>
                <a:latin typeface="Inter"/>
              </a:defRPr>
            </a:pPr>
            <a:r>
              <a:t>The index successfully held above the key support level of [Insert Level, e.g., 22,300] and approached a new resistance at [Insert Level, e.g., 22,600].</a:t>
            </a:r>
          </a:p>
          <a:p>
            <a:pPr lvl="1" algn="l">
              <a:spcBef>
                <a:spcPts val="400"/>
              </a:spcBef>
              <a:spcAft>
                <a:spcPts val="200"/>
              </a:spcAft>
              <a:defRPr sz="2000">
                <a:solidFill>
                  <a:srgbClr val="E0E7EB"/>
                </a:solidFill>
                <a:latin typeface="Inter"/>
              </a:defRPr>
            </a:pPr>
            <a:r>
              <a:t>Momentum indicators generally remained in positive territory, supporting the bullish sentiment.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AABFCB"/>
                </a:solidFill>
              </a:defRPr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400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AABFCB"/>
                </a:solidFill>
              </a:defRPr>
            </a:pPr>
            <a:r>
              <a:t>Last Week Nifty50 Market Evaluation | February 28,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10362895" cy="548640"/>
          </a:xfrm>
        </p:spPr>
        <p:txBody>
          <a:bodyPr anchor="t" tIns="0" bIns="0" lIns="0" rIns="0"/>
          <a:lstStyle/>
          <a:p>
            <a:pPr algn="l">
              <a:defRPr b="1" sz="4000">
                <a:solidFill>
                  <a:srgbClr val="3498DB"/>
                </a:solidFill>
                <a:latin typeface="Inter"/>
              </a:defRPr>
            </a:pPr>
            <a:r>
              <a:t>Key Sectoral Drivers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097280"/>
            <a:ext cx="10362895" cy="4937760"/>
          </a:xfrm>
        </p:spPr>
        <p:txBody>
          <a:bodyPr wrap="square"/>
          <a:lstStyle/>
          <a:p/>
          <a:p>
            <a:pPr algn="l">
              <a:spcBef>
                <a:spcPts val="400"/>
              </a:spcBef>
              <a:spcAft>
                <a:spcPts val="400"/>
              </a:spcAft>
              <a:defRPr sz="2400" b="0">
                <a:solidFill>
                  <a:srgbClr val="E0E7EB"/>
                </a:solidFill>
                <a:latin typeface="Inter"/>
              </a:defRPr>
            </a:pPr>
            <a:r>
              <a:t>Top Performing Sectors</a:t>
            </a:r>
          </a:p>
          <a:p>
            <a:pPr lvl="1" algn="l">
              <a:spcBef>
                <a:spcPts val="400"/>
              </a:spcBef>
              <a:spcAft>
                <a:spcPts val="200"/>
              </a:spcAft>
              <a:defRPr sz="2000">
                <a:solidFill>
                  <a:srgbClr val="E0E7EB"/>
                </a:solidFill>
                <a:latin typeface="Inter"/>
              </a:defRPr>
            </a:pPr>
            <a:r>
              <a:t>Information Technology (IT) led the gains, driven by strong quarterly earnings reports from major players and positive outlooks for global tech spending.</a:t>
            </a:r>
          </a:p>
          <a:p>
            <a:pPr lvl="1" algn="l">
              <a:spcBef>
                <a:spcPts val="400"/>
              </a:spcBef>
              <a:spcAft>
                <a:spcPts val="200"/>
              </a:spcAft>
              <a:defRPr sz="2000">
                <a:solidFill>
                  <a:srgbClr val="E0E7EB"/>
                </a:solidFill>
                <a:latin typeface="Inter"/>
              </a:defRPr>
            </a:pPr>
            <a:r>
              <a:t>Financial Services (Banks &amp; NBFCs) also contributed significantly, supported by robust credit growth data and stable asset quality.</a:t>
            </a:r>
          </a:p>
          <a:p>
            <a:pPr lvl="1" algn="l">
              <a:spcBef>
                <a:spcPts val="400"/>
              </a:spcBef>
              <a:spcAft>
                <a:spcPts val="200"/>
              </a:spcAft>
              <a:defRPr sz="2000">
                <a:solidFill>
                  <a:srgbClr val="E0E7EB"/>
                </a:solidFill>
                <a:latin typeface="Inter"/>
              </a:defRPr>
            </a:pPr>
            <a:r>
              <a:t>Other notable contributors included [Mention Sector, e.g., Pharma], benefiting from [specific news/trends].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400" b="0">
                <a:solidFill>
                  <a:srgbClr val="E0E7EB"/>
                </a:solidFill>
                <a:latin typeface="Inter"/>
              </a:defRPr>
            </a:pPr>
            <a:r>
              <a:t>Underperforming Sectors</a:t>
            </a:r>
          </a:p>
          <a:p>
            <a:pPr lvl="1" algn="l">
              <a:spcBef>
                <a:spcPts val="400"/>
              </a:spcBef>
              <a:spcAft>
                <a:spcPts val="200"/>
              </a:spcAft>
              <a:defRPr sz="2000">
                <a:solidFill>
                  <a:srgbClr val="E0E7EB"/>
                </a:solidFill>
                <a:latin typeface="Inter"/>
              </a:defRPr>
            </a:pPr>
            <a:r>
              <a:t>Public Sector Undertakings (PSUs) and Metals sectors experienced some profit booking after recent strong rallies.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AABFCB"/>
                </a:solidFill>
              </a:defRPr>
            </a:pPr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400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AABFCB"/>
                </a:solidFill>
              </a:defRPr>
            </a:pPr>
            <a:r>
              <a:t>Last Week Nifty50 Market Evaluation | February 28,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10362895" cy="548640"/>
          </a:xfrm>
        </p:spPr>
        <p:txBody>
          <a:bodyPr anchor="t" tIns="0" bIns="0" lIns="0" rIns="0"/>
          <a:lstStyle/>
          <a:p>
            <a:pPr algn="l">
              <a:defRPr b="1" sz="4000">
                <a:solidFill>
                  <a:srgbClr val="3498DB"/>
                </a:solidFill>
                <a:latin typeface="Inter"/>
              </a:defRPr>
            </a:pPr>
            <a:r>
              <a:t>Key Sectoral Drivers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097280"/>
            <a:ext cx="10362895" cy="4937760"/>
          </a:xfrm>
        </p:spPr>
        <p:txBody>
          <a:bodyPr wrap="square"/>
          <a:lstStyle/>
          <a:p/>
          <a:p>
            <a:pPr lvl="1" algn="l">
              <a:spcBef>
                <a:spcPts val="400"/>
              </a:spcBef>
              <a:spcAft>
                <a:spcPts val="200"/>
              </a:spcAft>
              <a:defRPr sz="2000">
                <a:solidFill>
                  <a:srgbClr val="E0E7EB"/>
                </a:solidFill>
                <a:latin typeface="Inter"/>
              </a:defRPr>
            </a:pPr>
            <a:r>
              <a:t>Minor corrections were observed in [Mention Sector, e.g., Auto] due to [specific reasons, e.g., concerns over input costs].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400" b="0">
                <a:solidFill>
                  <a:srgbClr val="E0E7EB"/>
                </a:solidFill>
                <a:latin typeface="Inter"/>
              </a:defRPr>
            </a:pPr>
            <a:r>
              <a:t>Impactful Stocks</a:t>
            </a:r>
          </a:p>
          <a:p>
            <a:pPr lvl="1" algn="l">
              <a:spcBef>
                <a:spcPts val="400"/>
              </a:spcBef>
              <a:spcAft>
                <a:spcPts val="200"/>
              </a:spcAft>
              <a:defRPr sz="2000">
                <a:solidFill>
                  <a:srgbClr val="E0E7EB"/>
                </a:solidFill>
                <a:latin typeface="Inter"/>
              </a:defRPr>
            </a:pPr>
            <a:r>
              <a:t>Heavyweights like [Mention Stock 1, e.g., HDFC Bank] and [Mention Stock 2, e.g., TCS] were instrumental in Nifty50's upward trajectory.</a:t>
            </a:r>
          </a:p>
          <a:p>
            <a:pPr lvl="1" algn="l">
              <a:spcBef>
                <a:spcPts val="400"/>
              </a:spcBef>
              <a:spcAft>
                <a:spcPts val="200"/>
              </a:spcAft>
              <a:defRPr sz="2000">
                <a:solidFill>
                  <a:srgbClr val="E0E7EB"/>
                </a:solidFill>
                <a:latin typeface="Inter"/>
              </a:defRPr>
            </a:pPr>
            <a:r>
              <a:t>Conversely, some selling pressure was noted in [Mention Stock 3, e.g., Reliance Industries] towards the week's end.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AABFCB"/>
                </a:solidFill>
              </a:defRPr>
            </a:pPr>
            <a: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400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AABFCB"/>
                </a:solidFill>
              </a:defRPr>
            </a:pPr>
            <a:r>
              <a:t>Last Week Nifty50 Market Evaluation | February 28,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10362895" cy="548640"/>
          </a:xfrm>
        </p:spPr>
        <p:txBody>
          <a:bodyPr anchor="t" tIns="0" bIns="0" lIns="0" rIns="0"/>
          <a:lstStyle/>
          <a:p>
            <a:pPr algn="l">
              <a:defRPr b="1" sz="4000">
                <a:solidFill>
                  <a:srgbClr val="3498DB"/>
                </a:solidFill>
                <a:latin typeface="Inter"/>
              </a:defRPr>
            </a:pPr>
            <a:r>
              <a:t>Summary &amp; Forward Look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097280"/>
            <a:ext cx="10362895" cy="4937760"/>
          </a:xfrm>
        </p:spPr>
        <p:txBody>
          <a:bodyPr wrap="square"/>
          <a:lstStyle/>
          <a:p/>
          <a:p>
            <a:pPr algn="l">
              <a:spcBef>
                <a:spcPts val="400"/>
              </a:spcBef>
              <a:spcAft>
                <a:spcPts val="400"/>
              </a:spcAft>
              <a:defRPr sz="2400" b="0">
                <a:solidFill>
                  <a:srgbClr val="E0E7EB"/>
                </a:solidFill>
                <a:latin typeface="Inter"/>
              </a:defRPr>
            </a:pPr>
            <a:r>
              <a:t>Weekly Recap</a:t>
            </a:r>
          </a:p>
          <a:p>
            <a:pPr lvl="1" algn="l">
              <a:spcBef>
                <a:spcPts val="400"/>
              </a:spcBef>
              <a:spcAft>
                <a:spcPts val="200"/>
              </a:spcAft>
              <a:defRPr sz="2000">
                <a:solidFill>
                  <a:srgbClr val="E0E7EB"/>
                </a:solidFill>
                <a:latin typeface="Inter"/>
              </a:defRPr>
            </a:pPr>
            <a:r>
              <a:t>Nifty50 concluded the week on a positive note, supported by favorable global cues and strong performance from key sectors like IT and Financials.</a:t>
            </a:r>
          </a:p>
          <a:p>
            <a:pPr lvl="1" algn="l">
              <a:spcBef>
                <a:spcPts val="400"/>
              </a:spcBef>
              <a:spcAft>
                <a:spcPts val="200"/>
              </a:spcAft>
              <a:defRPr sz="2000">
                <a:solidFill>
                  <a:srgbClr val="E0E7EB"/>
                </a:solidFill>
                <a:latin typeface="Inter"/>
              </a:defRPr>
            </a:pPr>
            <a:r>
              <a:t>Volatility remained contained, indicating a relatively stable market environment.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400" b="0">
                <a:solidFill>
                  <a:srgbClr val="E0E7EB"/>
                </a:solidFill>
                <a:latin typeface="Inter"/>
              </a:defRPr>
            </a:pPr>
            <a:r>
              <a:t>Key Takeaways</a:t>
            </a:r>
          </a:p>
          <a:p>
            <a:pPr lvl="1" algn="l">
              <a:spcBef>
                <a:spcPts val="400"/>
              </a:spcBef>
              <a:spcAft>
                <a:spcPts val="200"/>
              </a:spcAft>
              <a:defRPr sz="2000">
                <a:solidFill>
                  <a:srgbClr val="E0E7EB"/>
                </a:solidFill>
                <a:latin typeface="Inter"/>
              </a:defRPr>
            </a:pPr>
            <a:r>
              <a:t>Domestic institutional buying continues to provide a strong floor for the market.</a:t>
            </a:r>
          </a:p>
          <a:p>
            <a:pPr lvl="1" algn="l">
              <a:spcBef>
                <a:spcPts val="400"/>
              </a:spcBef>
              <a:spcAft>
                <a:spcPts val="200"/>
              </a:spcAft>
              <a:defRPr sz="2000">
                <a:solidFill>
                  <a:srgbClr val="E0E7EB"/>
                </a:solidFill>
                <a:latin typeface="Inter"/>
              </a:defRPr>
            </a:pPr>
            <a:r>
              <a:t>Sector-specific strength, particularly in growth-oriented sectors, is a primary driver.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AABFCB"/>
                </a:solidFill>
              </a:defRPr>
            </a:pPr>
            <a: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400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AABFCB"/>
                </a:solidFill>
              </a:defRPr>
            </a:pPr>
            <a:r>
              <a:t>Last Week Nifty50 Market Evaluation | February 28,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10362895" cy="548640"/>
          </a:xfrm>
        </p:spPr>
        <p:txBody>
          <a:bodyPr anchor="t" tIns="0" bIns="0" lIns="0" rIns="0"/>
          <a:lstStyle/>
          <a:p>
            <a:pPr algn="l">
              <a:defRPr b="1" sz="4000">
                <a:solidFill>
                  <a:srgbClr val="3498DB"/>
                </a:solidFill>
                <a:latin typeface="Inter"/>
              </a:defRPr>
            </a:pPr>
            <a:r>
              <a:t>Summary &amp; Forward Look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097280"/>
            <a:ext cx="10362895" cy="4937760"/>
          </a:xfrm>
        </p:spPr>
        <p:txBody>
          <a:bodyPr wrap="square"/>
          <a:lstStyle/>
          <a:p/>
          <a:p>
            <a:pPr algn="l">
              <a:spcBef>
                <a:spcPts val="400"/>
              </a:spcBef>
              <a:spcAft>
                <a:spcPts val="400"/>
              </a:spcAft>
              <a:defRPr sz="2400" b="0">
                <a:solidFill>
                  <a:srgbClr val="E0E7EB"/>
                </a:solidFill>
                <a:latin typeface="Inter"/>
              </a:defRPr>
            </a:pPr>
            <a:r>
              <a:t>Forward Outlook: Potential Catalysts</a:t>
            </a:r>
          </a:p>
          <a:p>
            <a:pPr lvl="1" algn="l">
              <a:spcBef>
                <a:spcPts val="400"/>
              </a:spcBef>
              <a:spcAft>
                <a:spcPts val="200"/>
              </a:spcAft>
              <a:defRPr sz="2000">
                <a:solidFill>
                  <a:srgbClr val="E0E7EB"/>
                </a:solidFill>
                <a:latin typeface="Inter"/>
              </a:defRPr>
            </a:pPr>
            <a:r>
              <a:t>Upcoming inflation data and central bank commentary will be closely watched for monetary policy direction.</a:t>
            </a:r>
          </a:p>
          <a:p>
            <a:pPr lvl="1" algn="l">
              <a:spcBef>
                <a:spcPts val="400"/>
              </a:spcBef>
              <a:spcAft>
                <a:spcPts val="200"/>
              </a:spcAft>
              <a:defRPr sz="2000">
                <a:solidFill>
                  <a:srgbClr val="E0E7EB"/>
                </a:solidFill>
                <a:latin typeface="Inter"/>
              </a:defRPr>
            </a:pPr>
            <a:r>
              <a:t>Further quarterly earnings reports from remaining Nifty50 constituents could dictate near-term sentiment.</a:t>
            </a:r>
          </a:p>
          <a:p>
            <a:pPr lvl="1" algn="l">
              <a:spcBef>
                <a:spcPts val="400"/>
              </a:spcBef>
              <a:spcAft>
                <a:spcPts val="200"/>
              </a:spcAft>
              <a:defRPr sz="2000">
                <a:solidFill>
                  <a:srgbClr val="E0E7EB"/>
                </a:solidFill>
                <a:latin typeface="Inter"/>
              </a:defRPr>
            </a:pPr>
            <a:r>
              <a:t>Global geopolitical developments and crude oil prices remain external factors to monitor.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AABFCB"/>
                </a:solidFill>
              </a:defRPr>
            </a:pPr>
            <a: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400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AABFCB"/>
                </a:solidFill>
              </a:defRPr>
            </a:pPr>
            <a:r>
              <a:t>Last Week Nifty50 Market Evaluation | February 28,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