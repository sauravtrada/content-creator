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 Care in India: A Comprehensive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Introduction to Indian Healthcare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Vast and complex system serving over 1.4 billion people.</a:t>
            </a:r>
          </a:p>
          <a:p>
            <a:pPr>
              <a:spcAft>
                <a:spcPts val="1000"/>
              </a:spcAft>
              <a:defRPr sz="2200"/>
            </a:pPr>
            <a:r>
              <a:t>Characterized by a dual public and private sector structure.</a:t>
            </a:r>
          </a:p>
          <a:p>
            <a:pPr lvl="1">
              <a:spcAft>
                <a:spcPts val="1000"/>
              </a:spcAft>
              <a:defRPr sz="1800"/>
            </a:pPr>
            <a:r>
              <a:t>Public sector focuses on primary care; private on secondary/tertiary.</a:t>
            </a:r>
          </a:p>
          <a:p>
            <a:pPr>
              <a:spcAft>
                <a:spcPts val="1000"/>
              </a:spcAft>
              <a:defRPr sz="2200"/>
            </a:pPr>
            <a:r>
              <a:t>Aims to provide accessible, affordable, and quality healthcare.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Key Challenges and Disparities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Significant rural-urban disparities in access to care and infrastructure.</a:t>
            </a:r>
          </a:p>
          <a:p>
            <a:pPr>
              <a:spcAft>
                <a:spcPts val="1000"/>
              </a:spcAft>
              <a:defRPr sz="2200"/>
            </a:pPr>
            <a:r>
              <a:t>Lack of adequate public funding and skilled healthcare professionals.</a:t>
            </a:r>
          </a:p>
          <a:p>
            <a:pPr lvl="1">
              <a:spcAft>
                <a:spcPts val="1000"/>
              </a:spcAft>
              <a:defRPr sz="1800"/>
            </a:pPr>
            <a:r>
              <a:t>Quality of care varies widely across regions and facilities.</a:t>
            </a:r>
          </a:p>
          <a:p>
            <a:pPr>
              <a:spcAft>
                <a:spcPts val="1000"/>
              </a:spcAft>
              <a:defRPr sz="2200"/>
            </a:pPr>
            <a:r>
              <a:t>High out-of-pocket expenditure remains a major financial burden.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Government Initiatives and Public Health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Ayushman Bharat (PM-JAY) aims for universal health coverage.</a:t>
            </a:r>
          </a:p>
          <a:p>
            <a:pPr>
              <a:spcAft>
                <a:spcPts val="1000"/>
              </a:spcAft>
              <a:defRPr sz="2200"/>
            </a:pPr>
            <a:r>
              <a:t>National Health Mission (NHM) strengthens public health infrastructure.</a:t>
            </a:r>
          </a:p>
          <a:p>
            <a:pPr lvl="1">
              <a:spcAft>
                <a:spcPts val="1000"/>
              </a:spcAft>
              <a:defRPr sz="1800"/>
            </a:pPr>
            <a:r>
              <a:t>Focus on preventative care, maternal and child health programs.</a:t>
            </a:r>
          </a:p>
          <a:p>
            <a:pPr>
              <a:spcAft>
                <a:spcPts val="1000"/>
              </a:spcAft>
              <a:defRPr sz="2200"/>
            </a:pPr>
            <a:r>
              <a:t>Promoting digital health solutions like Ayushman Bharat Digital Mission.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The Role of the Private Sector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Private sector is dominant, providing majority of outpatient and inpatient care.</a:t>
            </a:r>
          </a:p>
          <a:p>
            <a:pPr lvl="1">
              <a:spcAft>
                <a:spcPts val="1000"/>
              </a:spcAft>
              <a:defRPr sz="1800"/>
            </a:pPr>
            <a:r>
              <a:t>Offers specialized services, advanced technology, and medical tourism.</a:t>
            </a:r>
          </a:p>
          <a:p>
            <a:pPr>
              <a:spcAft>
                <a:spcPts val="1000"/>
              </a:spcAft>
              <a:defRPr sz="2200"/>
            </a:pPr>
            <a:r>
              <a:t>Technology adoption: Telemedicine, AI, and digital health platforms growing.</a:t>
            </a:r>
          </a:p>
          <a:p>
            <a:pPr lvl="1">
              <a:spcAft>
                <a:spcPts val="1000"/>
              </a:spcAft>
              <a:defRPr sz="1800"/>
            </a:pPr>
            <a:r>
              <a:t>Enhancing accessibility and efficiency, especially in remote areas.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Future Outlook, Opportunities,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200"/>
            </a:pPr>
            <a:r>
              <a:t>Future: Continued growth, increased public-private partnerships.</a:t>
            </a:r>
          </a:p>
          <a:p>
            <a:pPr>
              <a:spcAft>
                <a:spcPts val="1000"/>
              </a:spcAft>
              <a:defRPr sz="2200"/>
            </a:pPr>
            <a:r>
              <a:t>Opportunities for investment in infrastructure and digital health.</a:t>
            </a:r>
          </a:p>
          <a:p>
            <a:pPr>
              <a:spcAft>
                <a:spcPts val="1000"/>
              </a:spcAft>
              <a:defRPr sz="2200"/>
            </a:pPr>
            <a:r>
              <a:t>Recommendations: Prioritize universal access and strengthen primary care.</a:t>
            </a:r>
          </a:p>
          <a:p>
            <a:pPr lvl="1">
              <a:spcAft>
                <a:spcPts val="1000"/>
              </a:spcAft>
              <a:defRPr sz="1800"/>
            </a:pPr>
            <a:r>
              <a:t>Focus on health workforce development and sustainable funding models.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