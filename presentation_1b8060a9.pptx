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Navigating the Complexities: Health Care in India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by Gemini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Understanding India's Healthcare Landscape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2200"/>
            </a:pPr>
            <a:r>
              <a:t>Vast and diverse population (1.4+ billion) with varied health needs</a:t>
            </a:r>
          </a:p>
          <a:p>
            <a:pPr lvl="1">
              <a:spcAft>
                <a:spcPts val="1000"/>
              </a:spcAft>
              <a:defRPr sz="1800"/>
            </a:pPr>
            <a:r>
              <a:t>Significant urban-rural disparities in access and quality of care</a:t>
            </a:r>
          </a:p>
          <a:p>
            <a:pPr>
              <a:spcAft>
                <a:spcPts val="1000"/>
              </a:spcAft>
              <a:defRPr sz="2200"/>
            </a:pPr>
            <a:r>
              <a:t>Dual burden of disease: persistent communicable and rising non-communicable diseases</a:t>
            </a:r>
          </a:p>
          <a:p>
            <a:pPr lvl="1">
              <a:spcAft>
                <a:spcPts val="1000"/>
              </a:spcAft>
              <a:defRPr sz="1800"/>
            </a:pPr>
            <a:r>
              <a:t>Pluralistic system: modern medicine coexists with traditional AYUSH practices</a:t>
            </a:r>
          </a:p>
          <a:p>
            <a:pPr>
              <a:spcAft>
                <a:spcPts val="1000"/>
              </a:spcAft>
              <a:defRPr sz="2200"/>
            </a:pPr>
            <a:r>
              <a:t>Mixed public and private provision, with private sector as dominant provider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Challenges: Accessibility, Affordability, and Quality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2200"/>
            </a:pPr>
            <a:r>
              <a:t>Accessibility: Geographic barriers, inadequate infrastructure, especially in rural areas</a:t>
            </a:r>
          </a:p>
          <a:p>
            <a:pPr>
              <a:spcAft>
                <a:spcPts val="1000"/>
              </a:spcAft>
              <a:defRPr sz="2200"/>
            </a:pPr>
            <a:r>
              <a:t>Affordability: High out-of-pocket expenditure (OOPE), limited insurance penetration</a:t>
            </a:r>
          </a:p>
          <a:p>
            <a:pPr>
              <a:spcAft>
                <a:spcPts val="1000"/>
              </a:spcAft>
              <a:defRPr sz="2200"/>
            </a:pPr>
            <a:r>
              <a:t>Quality: Disparities in care standards, shortage of skilled healthcare professionals</a:t>
            </a:r>
          </a:p>
          <a:p>
            <a:pPr lvl="1">
              <a:spcAft>
                <a:spcPts val="1000"/>
              </a:spcAft>
              <a:defRPr sz="1800"/>
            </a:pPr>
            <a:r>
              <a:t>Infrastructure gaps: Shortage of beds, equipment, and specialized facilities</a:t>
            </a:r>
          </a:p>
          <a:p>
            <a:pPr lvl="1">
              <a:spcAft>
                <a:spcPts val="1000"/>
              </a:spcAft>
              <a:defRPr sz="1800"/>
            </a:pPr>
            <a:r>
              <a:t>Lack of robust regulatory frameworks for consistent care standards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Government Initiatives and Public Health Infrastructure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2200"/>
            </a:pPr>
            <a:r>
              <a:t>Ayushman Bharat: PMJAY provides health insurance cover to vulnerable families</a:t>
            </a:r>
          </a:p>
          <a:p>
            <a:pPr>
              <a:spcAft>
                <a:spcPts val="1000"/>
              </a:spcAft>
              <a:defRPr sz="2200"/>
            </a:pPr>
            <a:r>
              <a:t>Health and Wellness Centres (HWCs): Strengthening primary healthcare delivery</a:t>
            </a:r>
          </a:p>
          <a:p>
            <a:pPr lvl="1">
              <a:spcAft>
                <a:spcPts val="1000"/>
              </a:spcAft>
              <a:defRPr sz="1800"/>
            </a:pPr>
            <a:r>
              <a:t>National Health Mission (NHM): Focus on maternal, child health, and disease control</a:t>
            </a:r>
          </a:p>
          <a:p>
            <a:pPr>
              <a:spcAft>
                <a:spcPts val="1000"/>
              </a:spcAft>
              <a:defRPr sz="2200"/>
            </a:pPr>
            <a:r>
              <a:t>Ayushman Bharat Digital Mission (ABDM): Creating a unified digital health ecosystem</a:t>
            </a:r>
          </a:p>
          <a:p>
            <a:pPr lvl="1">
              <a:spcAft>
                <a:spcPts val="1000"/>
              </a:spcAft>
              <a:defRPr sz="1800"/>
            </a:pPr>
            <a:r>
              <a:t>Increased public health spending, though still below global averages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Role of the Private Sector and HealthTech Innovation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2200"/>
            </a:pPr>
            <a:r>
              <a:t>Dominant provider: Private sector delivers over 80% of outpatient care</a:t>
            </a:r>
          </a:p>
          <a:p>
            <a:pPr lvl="1">
              <a:spcAft>
                <a:spcPts val="1000"/>
              </a:spcAft>
              <a:defRPr sz="1800"/>
            </a:pPr>
            <a:r>
              <a:t>Specialized services: Key role in tertiary care and advanced diagnostics</a:t>
            </a:r>
          </a:p>
          <a:p>
            <a:pPr>
              <a:spcAft>
                <a:spcPts val="1000"/>
              </a:spcAft>
              <a:defRPr sz="2200"/>
            </a:pPr>
            <a:r>
              <a:t>HealthTech innovation: Telemedicine, AI diagnostics, wearable devices expanding reach</a:t>
            </a:r>
          </a:p>
          <a:p>
            <a:pPr lvl="1">
              <a:spcAft>
                <a:spcPts val="1000"/>
              </a:spcAft>
              <a:defRPr sz="1800"/>
            </a:pPr>
            <a:r>
              <a:t>Startup ecosystem: Addressing gaps in access, efficiency, and personalized care</a:t>
            </a:r>
          </a:p>
          <a:p>
            <a:pPr>
              <a:spcAft>
                <a:spcPts val="1000"/>
              </a:spcAft>
              <a:defRPr sz="2200"/>
            </a:pPr>
            <a:r>
              <a:t>Public-Private Partnerships (PPPs): Collaborative models for service delivery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Towards a Healthier India: Future Outlook and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2200"/>
            </a:pPr>
            <a:r>
              <a:t>Increase public health investment: Target 2.5% of GDP for healthcare</a:t>
            </a:r>
          </a:p>
          <a:p>
            <a:pPr>
              <a:spcAft>
                <a:spcPts val="1000"/>
              </a:spcAft>
              <a:defRPr sz="2200"/>
            </a:pPr>
            <a:r>
              <a:t>Strengthen primary care: Focus on preventive health and early detection</a:t>
            </a:r>
          </a:p>
          <a:p>
            <a:pPr lvl="1">
              <a:spcAft>
                <a:spcPts val="1000"/>
              </a:spcAft>
              <a:defRPr sz="1800"/>
            </a:pPr>
            <a:r>
              <a:t>Enhance health equity: Reduce urban-rural and socioeconomic disparities</a:t>
            </a:r>
          </a:p>
          <a:p>
            <a:pPr>
              <a:spcAft>
                <a:spcPts val="1000"/>
              </a:spcAft>
              <a:defRPr sz="2200"/>
            </a:pPr>
            <a:r>
              <a:t>Leverage technology: Expand digital health for universal health coverage</a:t>
            </a:r>
          </a:p>
          <a:p>
            <a:pPr lvl="1">
              <a:spcAft>
                <a:spcPts val="1000"/>
              </a:spcAft>
              <a:defRPr sz="1800"/>
            </a:pPr>
            <a:r>
              <a:t>Focus on human resources: Skill development and better distribution of professionals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