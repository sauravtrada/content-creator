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5400">
                <a:solidFill>
                  <a:srgbClr val="2A6DA2"/>
                </a:solidFill>
                <a:latin typeface="Inter"/>
              </a:defRPr>
            </a:pPr>
            <a:r>
              <a:t>Nifty50 Weekly Market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>
                <a:solidFill>
                  <a:srgbClr val="00B09B"/>
                </a:solidFill>
                <a:latin typeface="Inter"/>
              </a:defRPr>
            </a:pPr>
            <a:r>
              <a:t>Generated by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2A6DA2"/>
                </a:solidFill>
                <a:latin typeface="Inter"/>
              </a:defRPr>
            </a:pPr>
            <a:r>
              <a:t>Nifty50 Last Week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The Nifty50 experienced a week of consolidation amidst mixed global cues and domestic corporate earnings updates.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Opened the week on a cautious note, reacting to international market sentiments and initial quarterly results.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Mid-week saw attempts at recovery, driven by positive momentum in select heavyweights and sector-specific news.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Closed the week with marginal gains/losses, indicating a lack of strong directional conviction among participants.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Trading volumes remained moderate, suggesting underlying caution and profit-booking at higher levels.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BCB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BCB"/>
                </a:solidFill>
              </a:defRPr>
            </a:pPr>
            <a:r>
              <a:t>Nifty50 Weekly Market Review | February 28,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2A6DA2"/>
                </a:solidFill>
                <a:latin typeface="Inter"/>
              </a:defRPr>
            </a:pPr>
            <a:r>
              <a:t>Nifty50 Last Week Overview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Key focus remained on inflation data globally and the trajectory of interest rates, influencing FII flows.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Domestic macroeconomic indicators, while largely stable, presented a mixed picture for future growth prospects.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BCB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BCB"/>
                </a:solidFill>
              </a:defRPr>
            </a:pPr>
            <a:r>
              <a:t>Nifty50 Weekly Market Review | February 28,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2A6DA2"/>
                </a:solidFill>
                <a:latin typeface="Inter"/>
              </a:defRPr>
            </a:pPr>
            <a:r>
              <a:t>Weekly Performance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Nifty50 Index closed at [Closing Value] points, recording a [Percentage Change]% change for the week.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Weekly High: [High Value] points, Weekly Low: [Low Value] points, indicating a range-bound movement.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India VIX, the volatility index, saw a [VIX Change]% movement, settling at [VIX Value], reflecting market apprehension.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Top 3 Nifty50 Gainers: [Company A], [Company B], [Company C] – driven by positive earnings/sector news.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Top 3 Nifty50 Losers: [Company X], [Company Y], [Company Z] – impacted by profit-booking or specific headwinds.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BCB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BCB"/>
                </a:solidFill>
              </a:defRPr>
            </a:pPr>
            <a:r>
              <a:t>Nifty50 Weekly Market Review | February 28,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2A6DA2"/>
                </a:solidFill>
                <a:latin typeface="Inter"/>
              </a:defRPr>
            </a:pPr>
            <a:r>
              <a:t>Weekly Performance Snapshot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Market Breadth: [Number] advances vs. [Number] declines, suggesting a slightly [positive/negative/neutral] sentiment.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Foreign Institutional Investors (FIIs) recorded [Net Buy/Sell] of [Value] Crore, while Domestic Institutional Investors (DIIs) were [Net Buy/Sell] of [Value] Crore.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BCB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BCB"/>
                </a:solidFill>
              </a:defRPr>
            </a:pPr>
            <a:r>
              <a:t>Nifty50 Weekly Market Review | February 28,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2A6DA2"/>
                </a:solidFill>
                <a:latin typeface="Inter"/>
              </a:defRPr>
            </a:pPr>
            <a:r>
              <a:t>Key Positive Catalysts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Resilient Corporate Earnings: Better-than-expected Q4 results from bellwether companies provided support.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Robust Domestic Demand: Continued strength in consumption-oriented sectors underpinned market confidence.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Positive Global Cues: Occasional optimism from US markets and easing commodity prices offered intermittent relief.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FII Inflows in Select Pockets: Targeted buying by foreign investors in specific sectors indicated conviction.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Government Policy Support: Anticipation of favorable policy announcements or continued infrastructure spending.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BCB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BCB"/>
                </a:solidFill>
              </a:defRPr>
            </a:pPr>
            <a:r>
              <a:t>Nifty50 Weekly Market Review | February 28,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2A6DA2"/>
                </a:solidFill>
                <a:latin typeface="Inter"/>
              </a:defRPr>
            </a:pPr>
            <a:r>
              <a:t>Key Positive Catalysts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Banking Sector Stability: Strong credit growth and improving asset quality bolstered financial stocks.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Moderating Inflationary Pressures: Signs of inflation plateauing domestically provided hope for future rate stability.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BCB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BCB"/>
                </a:solidFill>
              </a:defRPr>
            </a:pPr>
            <a:r>
              <a:t>Nifty50 Weekly Market Review | February 28,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2A6DA2"/>
                </a:solidFill>
                <a:latin typeface="Inter"/>
              </a:defRPr>
            </a:pPr>
            <a:r>
              <a:t>Key Negative Pressures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Global Inflation Concerns: Persistent high inflation in major economies fueled fears of prolonged high interest rates.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Geopolitical Tensions: Ongoing global conflicts created uncertainty and impacted investor sentiment.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FII Outflows in Broader Market: Net selling by foreign investors in the wider market exerted downward pressure.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Rising Crude Oil Prices: Volatility in international crude oil prices posed risks to India's import bill and inflation.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Rupee Depreciation: The Indian Rupee witnessed some depreciation against the US Dollar, impacting imports.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BCB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BCB"/>
                </a:solidFill>
              </a:defRPr>
            </a:pPr>
            <a:r>
              <a:t>Nifty50 Weekly Market Review | February 28,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2A6DA2"/>
                </a:solidFill>
                <a:latin typeface="Inter"/>
              </a:defRPr>
            </a:pPr>
            <a:r>
              <a:t>Key Negative Pressures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Valuation Concerns: Certain sectors appeared stretched on valuations, leading to profit-booking.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Monetary Policy Uncertainty: Expectations around RBI's future interest rate actions kept investors on edge.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BCB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BCB"/>
                </a:solidFill>
              </a:defRPr>
            </a:pPr>
            <a:r>
              <a:t>Nifty50 Weekly Market Review | February 28,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2A6DA2"/>
                </a:solidFill>
                <a:latin typeface="Inter"/>
              </a:defRPr>
            </a:pPr>
            <a:r>
              <a:t>Sectoral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Outperforming Sectors: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IT Services: Showed resilience driven by strong deal pipelines and favorable currency movements.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Healthcare/Pharma: Witnessed buying interest on defensive plays and positive regulatory updates.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Underperforming Sectors: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Metals: Faced headwinds from global demand concerns and fluctuating commodity prices.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Public Sector Banks (PSBs): Saw profit-booking after recent rallies, despite healthy fundamentals.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BCB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BCB"/>
                </a:solidFill>
              </a:defRPr>
            </a:pPr>
            <a:r>
              <a:t>Nifty50 Weekly Market Review | February 28,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2A6DA2"/>
                </a:solidFill>
                <a:latin typeface="Inter"/>
              </a:defRPr>
            </a:pPr>
            <a:r>
              <a:t>Sectoral Performance Insights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Auto Sector: Mixed performance, with some segments showing strength while others grappled with demand issues.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FMCG &amp; Consumer Durables: Remained stable, supported by consistent domestic consumption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BCB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BCB"/>
                </a:solidFill>
              </a:defRPr>
            </a:pPr>
            <a:r>
              <a:t>Nifty50 Weekly Market Review | February 28,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2A6DA2"/>
                </a:solidFill>
                <a:latin typeface="Inter"/>
              </a:defRPr>
            </a:pPr>
            <a:r>
              <a:t>Market Outlook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Key Data Releases: Focus on upcoming inflation figures (CPI/WPI) and industrial production data.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Global Events: US Fed meeting minutes and European economic data will provide directional cues.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Corporate Earnings Season: The tail end of Q4 earnings will continue to influence stock-specific movements.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Technical Levels: Nifty50's immediate support seen at [Support Level 1] and [Support Level 2], resistance at [Resistance Level 1] and [Resistance Level 2].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FII/DII Activity: Trend of institutional flows will be crucial for sustained market direction.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BCB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BCB"/>
                </a:solidFill>
              </a:defRPr>
            </a:pPr>
            <a:r>
              <a:t>Nifty50 Weekly Market Review | February 28,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2A6DA2"/>
                </a:solidFill>
                <a:latin typeface="Inter"/>
              </a:defRPr>
            </a:pPr>
            <a:r>
              <a:t>Market Outlook Ahead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Monsoon Progress: Early indications of monsoon progress will be closely watched for agricultural outlook.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Sectoral Rotation: Expect continued rotation as investors seek value in specific themes.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BCB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BCB"/>
                </a:solidFill>
              </a:defRPr>
            </a:pPr>
            <a:r>
              <a:t>Nifty50 Weekly Market Review | February 28,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2A6DA2"/>
                </a:solidFill>
                <a:latin typeface="Inter"/>
              </a:defRPr>
            </a:pPr>
            <a:r>
              <a:t>Key Takeaways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Nifty50 navigated a week of consolidation, reflecting a cautious yet resilient market sentiment.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Mixed signals from global markets and domestic earnings kept volatility in check.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Sectoral performance was divergent, with IT and Healthcare showing strength, while Metals lagged.</a:t>
            </a:r>
          </a:p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Upcoming macroeconomic data and global events will be pivotal for the market's near-term trajectory.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Investors are advised to remain selective and focus on fundamentally strong companies.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BCB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BCB"/>
                </a:solidFill>
              </a:defRPr>
            </a:pPr>
            <a:r>
              <a:t>Nifty50 Weekly Market Review | February 28,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548640"/>
          </a:xfrm>
        </p:spPr>
        <p:txBody>
          <a:bodyPr anchor="t" tIns="0" bIns="0" lIns="0" rIns="0"/>
          <a:lstStyle/>
          <a:p>
            <a:pPr algn="l">
              <a:defRPr b="1" sz="4000">
                <a:solidFill>
                  <a:srgbClr val="2A6DA2"/>
                </a:solidFill>
                <a:latin typeface="Inter"/>
              </a:defRPr>
            </a:pPr>
            <a:r>
              <a:t>Key Takeaways &amp; Q&amp;A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97280"/>
            <a:ext cx="10362895" cy="4937760"/>
          </a:xfrm>
        </p:spPr>
        <p:txBody>
          <a:bodyPr wrap="square"/>
          <a:lstStyle/>
          <a:p/>
          <a:p>
            <a:pPr lvl="1" algn="l">
              <a:spcBef>
                <a:spcPts val="400"/>
              </a:spcBef>
              <a:spcAft>
                <a:spcPts val="200"/>
              </a:spcAft>
              <a:defRPr sz="2000">
                <a:solidFill>
                  <a:srgbClr val="E0E6ED"/>
                </a:solidFill>
                <a:latin typeface="Inter"/>
              </a:defRPr>
            </a:pPr>
            <a:r>
              <a:t>Key levels to watch are [Support Level] on the downside and [Resistance Level] on the upside.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400" b="0">
                <a:solidFill>
                  <a:srgbClr val="E0E6ED"/>
                </a:solidFill>
                <a:latin typeface="Inter"/>
              </a:defRPr>
            </a:pPr>
            <a:r>
              <a:t>We now open the floor for any questions you may have regarding this week's review and the outlook ahead.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BBCB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AABBCB"/>
                </a:solidFill>
              </a:defRPr>
            </a:pPr>
            <a:r>
              <a:t>Nifty50 Weekly Market Review | February 28,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